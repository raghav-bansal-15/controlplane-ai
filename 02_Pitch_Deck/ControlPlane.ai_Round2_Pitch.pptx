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f8be6b00c714267" /><Relationship Type="http://schemas.openxmlformats.org/officeDocument/2006/relationships/extended-properties" Target="/docProps/app.xml" Id="R4e5a53bf691e4c6e" /><Relationship Type="http://schemas.openxmlformats.org/officeDocument/2006/relationships/officeDocument" Target="/ppt/presentation.xml" Id="R5cfe0dafdeb74f4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4c64955a75649e0"/>
  </p:sldMasterIdLst>
  <p:notesMasterIdLst>
    <p:notesMasterId xmlns:r="http://schemas.openxmlformats.org/officeDocument/2006/relationships" r:id="R6346ca66d2d9464e"/>
  </p:notesMasterIdLst>
  <p:sldIdLst>
    <p:sldId xmlns:r="http://schemas.openxmlformats.org/officeDocument/2006/relationships" id="256" r:id="R3399422e53f54a27"/>
    <p:sldId xmlns:r="http://schemas.openxmlformats.org/officeDocument/2006/relationships" id="257" r:id="Rf014ddf6862c4a29"/>
    <p:sldId xmlns:r="http://schemas.openxmlformats.org/officeDocument/2006/relationships" id="258" r:id="R6c1fcbee18364aed"/>
    <p:sldId xmlns:r="http://schemas.openxmlformats.org/officeDocument/2006/relationships" id="259" r:id="Rd33369f5983d4bea"/>
    <p:sldId xmlns:r="http://schemas.openxmlformats.org/officeDocument/2006/relationships" id="260" r:id="Rac3b6ee3581d49c8"/>
    <p:sldId xmlns:r="http://schemas.openxmlformats.org/officeDocument/2006/relationships" id="261" r:id="R8d35127805564242"/>
    <p:sldId xmlns:r="http://schemas.openxmlformats.org/officeDocument/2006/relationships" id="262" r:id="R6e7c5baf17ad4406"/>
    <p:sldId xmlns:r="http://schemas.openxmlformats.org/officeDocument/2006/relationships" id="263" r:id="R37fbe89c1bee4661"/>
    <p:sldId xmlns:r="http://schemas.openxmlformats.org/officeDocument/2006/relationships" id="264" r:id="R080c25c128b84865"/>
    <p:sldId xmlns:r="http://schemas.openxmlformats.org/officeDocument/2006/relationships" id="265" r:id="R77de3a5141ff45a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8ba622dbfca4572" /><Relationship Type="http://schemas.openxmlformats.org/officeDocument/2006/relationships/slideMaster" Target="/ppt/slideMasters/slideMaster1.xml" Id="R34c64955a75649e0" /><Relationship Type="http://schemas.openxmlformats.org/officeDocument/2006/relationships/notesMaster" Target="/ppt/notesMasters/notesMaster1.xml" Id="R6346ca66d2d9464e" /><Relationship Type="http://schemas.openxmlformats.org/officeDocument/2006/relationships/presProps" Target="/ppt/presProps.xml" Id="R19f2722c987a4af5" /><Relationship Type="http://schemas.openxmlformats.org/officeDocument/2006/relationships/tableStyles" Target="/ppt/tableStyles.xml" Id="Rea3d31360f194d99" /><Relationship Type="http://schemas.openxmlformats.org/officeDocument/2006/relationships/slide" Target="/ppt/slides/slide1.xml" Id="R3399422e53f54a27" /><Relationship Type="http://schemas.openxmlformats.org/officeDocument/2006/relationships/slide" Target="/ppt/slides/slide2.xml" Id="Rf014ddf6862c4a29" /><Relationship Type="http://schemas.openxmlformats.org/officeDocument/2006/relationships/slide" Target="/ppt/slides/slide3.xml" Id="R6c1fcbee18364aed" /><Relationship Type="http://schemas.openxmlformats.org/officeDocument/2006/relationships/slide" Target="/ppt/slides/slide4.xml" Id="Rd33369f5983d4bea" /><Relationship Type="http://schemas.openxmlformats.org/officeDocument/2006/relationships/slide" Target="/ppt/slides/slide5.xml" Id="Rac3b6ee3581d49c8" /><Relationship Type="http://schemas.openxmlformats.org/officeDocument/2006/relationships/slide" Target="/ppt/slides/slide6.xml" Id="R8d35127805564242" /><Relationship Type="http://schemas.openxmlformats.org/officeDocument/2006/relationships/slide" Target="/ppt/slides/slide7.xml" Id="R6e7c5baf17ad4406" /><Relationship Type="http://schemas.openxmlformats.org/officeDocument/2006/relationships/slide" Target="/ppt/slides/slide8.xml" Id="R37fbe89c1bee4661" /><Relationship Type="http://schemas.openxmlformats.org/officeDocument/2006/relationships/slide" Target="/ppt/slides/slide9.xml" Id="R080c25c128b84865" /><Relationship Type="http://schemas.openxmlformats.org/officeDocument/2006/relationships/slide" Target="/ppt/slides/slide10.xml" Id="R77de3a5141ff45a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89ed37460aa461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03ce86c73f44e05" /><Relationship Type="http://schemas.openxmlformats.org/officeDocument/2006/relationships/notesMaster" Target="/ppt/notesMasters/notesMaster1.xml" Id="R73d1124ad8e8458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65ac1c06339409d" /><Relationship Type="http://schemas.openxmlformats.org/officeDocument/2006/relationships/notesMaster" Target="/ppt/notesMasters/notesMaster1.xml" Id="Rd92dc52dbcdc4fe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20b4a84a68b44b8" /><Relationship Type="http://schemas.openxmlformats.org/officeDocument/2006/relationships/notesMaster" Target="/ppt/notesMasters/notesMaster1.xml" Id="Rca180ae041164d8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b9f3bee791d46b2" /><Relationship Type="http://schemas.openxmlformats.org/officeDocument/2006/relationships/notesMaster" Target="/ppt/notesMasters/notesMaster1.xml" Id="R64a97032d9c2447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2298ccab52a4cde" /><Relationship Type="http://schemas.openxmlformats.org/officeDocument/2006/relationships/notesMaster" Target="/ppt/notesMasters/notesMaster1.xml" Id="R5bc8f5490ac7490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fbe177666bc49b3" /><Relationship Type="http://schemas.openxmlformats.org/officeDocument/2006/relationships/notesMaster" Target="/ppt/notesMasters/notesMaster1.xml" Id="R31f79d0b93954ac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ff2adb7d9234229" /><Relationship Type="http://schemas.openxmlformats.org/officeDocument/2006/relationships/notesMaster" Target="/ppt/notesMasters/notesMaster1.xml" Id="R82500e0790a047b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9a2c13537634db2" /><Relationship Type="http://schemas.openxmlformats.org/officeDocument/2006/relationships/notesMaster" Target="/ppt/notesMasters/notesMaster1.xml" Id="Rfd512dcfe35f472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1dc5f6d9ec94a3e" /><Relationship Type="http://schemas.openxmlformats.org/officeDocument/2006/relationships/notesMaster" Target="/ppt/notesMasters/notesMaster1.xml" Id="R7b24990f257048b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404f1d251b44cfa" /><Relationship Type="http://schemas.openxmlformats.org/officeDocument/2006/relationships/notesMaster" Target="/ppt/notesMasters/notesMaster1.xml" Id="R7af15e1c2862463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control principle. The product does not ask a second model to sound more confident. It establishes whether each high-impact claim has a right to be spoken.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NewGenLabs_ControlPlane.ai.pdf, slides 3-4</a:t>
            </a:r>
          </a:p>
          <a:p xmlns:a="http://schemas.openxmlformats.org/drawingml/2006/main">
            <a:r>
              <a:t>- accenture_round2.pdf, pages 1-2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business problem is consequence asymmetry. A single global confidence threshold cannot serve public information, regulated advice, and irreversible actions equally.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NewGenLabs_ControlPlane.ai.pdf, slide 3</a:t>
            </a:r>
          </a:p>
          <a:p xmlns:a="http://schemas.openxmlformats.org/drawingml/2006/main">
            <a:r>
              <a:t>- accenture_round2.pdf, pages 1-2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from the request to the evidence receipt. Emphasize that verification happens before the final answer and that independent claim checks run concurrently.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- 01_Business_Proposal/ControlPlane.ai_Business_Proposal.md, section 3</a:t>
            </a:r>
          </a:p>
          <a:p xmlns:a="http://schemas.openxmlformats.org/drawingml/2006/main">
            <a:r>
              <a:t>- prototype/engine/pipeline.py</a:t>
            </a:r>
          </a:p>
          <a:p xmlns:a="http://schemas.openxmlformats.org/drawingml/2006/main">
            <a:r>
              <a:t>- prototype/engine/verifiers.py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defect that the readiness audit exposed and the new exact regression protects. The verifier now takes the lock-in from the signed agreement and cites CTR-1212 in the blocking rationale.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prototype/tests/test_submission_readiness.py, ContractAuthorityTests</a:t>
            </a:r>
          </a:p>
          <a:p xmlns:a="http://schemas.openxmlformats.org/drawingml/2006/main">
            <a:r>
              <a:t>- prototype/engine/data/sources.py, LN-2025-01212 and CTR-1212</a:t>
            </a:r>
          </a:p>
          <a:p xmlns:a="http://schemas.openxmlformats.org/drawingml/2006/main">
            <a:r>
              <a:t>- prototype/engine/verifiers.py, loan_foreclosure claim c2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control avoids the false choice between allow and block. EDIT preserves usefulness, while ABSTAIN and ESCALATE expose uncertainty instead of hiding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accenture_round2.pdf, page 2</a:t>
            </a:r>
          </a:p>
          <a:p xmlns:a="http://schemas.openxmlformats.org/drawingml/2006/main">
            <a:r>
              <a:t>- prototype/engine/decision_gate.py</a:t>
            </a:r>
          </a:p>
          <a:p xmlns:a="http://schemas.openxmlformats.org/drawingml/2006/main">
            <a:r>
              <a:t>- prototype/tests/smoke.py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that governance changes behavior. Profiles alter the confidence threshold, jurisdiction changes receipt treatment and legal citations, and reviewer outcomes calibrate only the affected intent.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prototype/engine/contracts.yaml</a:t>
            </a:r>
          </a:p>
          <a:p xmlns:a="http://schemas.openxmlformats.org/drawingml/2006/main">
            <a:r>
              <a:t>- prototype/engine/profiles.py</a:t>
            </a:r>
          </a:p>
          <a:p xmlns:a="http://schemas.openxmlformats.org/drawingml/2006/main">
            <a:r>
              <a:t>- prototype/engine/receipt.py</a:t>
            </a:r>
          </a:p>
          <a:p xmlns:a="http://schemas.openxmlformats.org/drawingml/2006/main">
            <a:r>
              <a:t>- prototype/engine/feedback_store.py</a:t>
            </a:r>
          </a:p>
          <a:p xmlns:a="http://schemas.openxmlformats.org/drawingml/2006/main">
            <a:r>
              <a:t>- prototype/engine/ui_adapter.py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overstate the result. The 42 YAML cases include safe-action ranges, so the seven readiness tests add exact assertions for the audit findings. Together they prove the submitted behavior, not production accuracy.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prototype/tests/test_submission_readiness.py</a:t>
            </a:r>
          </a:p>
          <a:p xmlns:a="http://schemas.openxmlformats.org/drawingml/2006/main">
            <a:r>
              <a:t>- prototype/tests/smoke.py</a:t>
            </a:r>
          </a:p>
          <a:p xmlns:a="http://schemas.openxmlformats.org/drawingml/2006/main">
            <a:r>
              <a:t>- prototype/tests/run_suite.py</a:t>
            </a:r>
          </a:p>
          <a:p xmlns:a="http://schemas.openxmlformats.org/drawingml/2006/main">
            <a:r>
              <a:t>- prototype/tests/blind_suites/*.yaml</a:t>
            </a:r>
          </a:p>
          <a:p xmlns:a="http://schemas.openxmlformats.org/drawingml/2006/main">
            <a:r>
              <a:t>- Validation run on 2026-08-29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these as assumptions to validate in shadow mode. The commercial case is credible because every lever maps to a measurable operating metric, not because the ranges are guaranteed.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- 01_Business_Proposal/ControlPlane.ai_Business_Proposal.md, section 5</a:t>
            </a:r>
          </a:p>
          <a:p xmlns:a="http://schemas.openxmlformats.org/drawingml/2006/main">
            <a:r>
              <a:t>- accenture_round2.pdf, page 2 reference parameters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pilot deliberately starts in shadow mode. Enforcement begins only after reviewers quantify router precision, gate false positives, false negatives, latency, and operational load.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- 01_Business_Proposal/ControlPlane.ai_Business_Proposal.md, section 6</a:t>
            </a:r>
          </a:p>
          <a:p xmlns:a="http://schemas.openxmlformats.org/drawingml/2006/main">
            <a:r>
              <a:t>- accenture_round2.pdf, page 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a bounded ask. The team is not asking for immediate enforcement. It is asking to validate the control beside production, with explicit policy ownership and reviewer calibration.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- 01_Business_Proposal/ControlPlane.ai_Business_Proposal.md, sections 6-7</a:t>
            </a:r>
          </a:p>
          <a:p xmlns:a="http://schemas.openxmlformats.org/drawingml/2006/main">
            <a:r>
              <a:t>- accenture_round2.pdf, page 7 deliverables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790f40ebe44c8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9f2315777ba4482" /><Relationship Type="http://schemas.openxmlformats.org/officeDocument/2006/relationships/slideLayout" Target="/ppt/slideLayouts/slideLayout1.xml" Id="R765338b08e434d7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65338b08e434d7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eea963701d4638" /><Relationship Type="http://schemas.openxmlformats.org/officeDocument/2006/relationships/notesSlide" Target="/ppt/notesSlides/notesSlide1.xml" Id="R3032f423651c4a9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16b2350d1f4965" /><Relationship Type="http://schemas.openxmlformats.org/officeDocument/2006/relationships/notesSlide" Target="/ppt/notesSlides/notesSlide2.xml" Id="Rc28499cb20fa492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d9165de3c842fe" /><Relationship Type="http://schemas.openxmlformats.org/officeDocument/2006/relationships/notesSlide" Target="/ppt/notesSlides/notesSlide3.xml" Id="R2588a4c978ea4cf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58fbce912a417b" /><Relationship Type="http://schemas.openxmlformats.org/officeDocument/2006/relationships/notesSlide" Target="/ppt/notesSlides/notesSlide4.xml" Id="Rf7a174ee083a442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d82ac683814e2d" /><Relationship Type="http://schemas.openxmlformats.org/officeDocument/2006/relationships/notesSlide" Target="/ppt/notesSlides/notesSlide5.xml" Id="R0e4c3b1b2a1d4d4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80354358c64758" /><Relationship Type="http://schemas.openxmlformats.org/officeDocument/2006/relationships/notesSlide" Target="/ppt/notesSlides/notesSlide6.xml" Id="R4230a79e4c8e4d4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c9256f13b44bde" /><Relationship Type="http://schemas.openxmlformats.org/officeDocument/2006/relationships/notesSlide" Target="/ppt/notesSlides/notesSlide7.xml" Id="R3b5438827f894c0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35c13a55954fb7" /><Relationship Type="http://schemas.openxmlformats.org/officeDocument/2006/relationships/notesSlide" Target="/ppt/notesSlides/notesSlide8.xml" Id="Rf841ea3f03e64f1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afe160678b46c9" /><Relationship Type="http://schemas.openxmlformats.org/officeDocument/2006/relationships/notesSlide" Target="/ppt/notesSlides/notesSlide9.xml" Id="R63d2fbbe4786481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6ea83923fc4f90" /><Relationship Type="http://schemas.openxmlformats.org/officeDocument/2006/relationships/notesSlide" Target="/ppt/notesSlides/notesSlide10.xml" Id="R333e914b3848407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454BF8F3-BC73-4030-B4A8-C036A6773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ACCENTURE INNOVATION CHALLENGE 2026 · ROUND 2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63330858-C4F0-47B8-AE6A-C634EA99B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981075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ControlPlane.ai</a:t>
            </a:r>
          </a:p>
          <a:p xmlns:a="http://schemas.openxmlformats.org/drawingml/2006/main">
            <a:pPr algn="l">
              <a:defRPr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before answer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4D2BB4-9CAE-4C29-95A5-D77571598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91025"/>
            <a:ext cx="2095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C2553A72-1508-4876-9E08-D3EAAB5EE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8096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Working evidence-enforcement middleware for enterprise AI</a:t>
            </a:r>
          </a:p>
          <a:p xmlns:a="http://schemas.openxmlformats.org/drawingml/2006/main">
            <a:pPr algn="l">
              <a:defRPr sz="19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Team NewGenLabs · IIT (BHU)</a:t>
            </a:r>
          </a:p>
        </p:txBody>
      </p:sp>
      <p:sp>
        <p:nvSpPr>
          <p:cNvPr id="5" name="cover-mark">
            <a:extLst xmlns:a="http://schemas.openxmlformats.org/drawingml/2006/main">
              <a:ext uri="{FF2B5EF4-FFF2-40B4-BE49-F238E27FC236}">
                <a16:creationId xmlns:a16="http://schemas.microsoft.com/office/drawing/2014/main" id="{2F044350-3051-4613-B73B-EEB9973BD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5476875"/>
            <a:ext cx="647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3889"/>
          </a:bodyPr>
          <a:lstStyle xmlns:a="http://schemas.openxmlformats.org/drawingml/2006/main"/>
          <a:p xmlns:a="http://schemas.openxmlformats.org/drawingml/2006/main">
            <a:pPr algn="r">
              <a:defRPr sz="4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7258492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-2">
            <a:extLst xmlns:a="http://schemas.openxmlformats.org/drawingml/2006/main">
              <a:ext uri="{FF2B5EF4-FFF2-40B4-BE49-F238E27FC236}">
                <a16:creationId xmlns:a16="http://schemas.microsoft.com/office/drawing/2014/main" id="{D747FFC3-1829-4E52-9D52-C925B6811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THE PROBLEM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13EB7197-3252-4D9B-A07B-CF203B126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same confident answer can carry radically different risk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34B841-9E87-4F09-8F25-DA1A8D6FD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192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footer-2">
            <a:extLst xmlns:a="http://schemas.openxmlformats.org/drawingml/2006/main">
              <a:ext uri="{FF2B5EF4-FFF2-40B4-BE49-F238E27FC236}">
                <a16:creationId xmlns:a16="http://schemas.microsoft.com/office/drawing/2014/main" id="{3F06DBAF-B657-4A45-A588-0C94BD010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531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NEWGENLABS · CONTROLPLANE.AI</a:t>
            </a:r>
          </a:p>
        </p:txBody>
      </p:sp>
      <p:sp>
        <p:nvSpPr>
          <p:cNvPr id="5" name="page-2">
            <a:extLst xmlns:a="http://schemas.openxmlformats.org/drawingml/2006/main">
              <a:ext uri="{FF2B5EF4-FFF2-40B4-BE49-F238E27FC236}">
                <a16:creationId xmlns:a16="http://schemas.microsoft.com/office/drawing/2014/main" id="{506508B0-D7DD-4378-9B70-A8EFF7E87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6" name="column-index-1">
            <a:extLst xmlns:a="http://schemas.openxmlformats.org/drawingml/2006/main">
              <a:ext uri="{FF2B5EF4-FFF2-40B4-BE49-F238E27FC236}">
                <a16:creationId xmlns:a16="http://schemas.microsoft.com/office/drawing/2014/main" id="{24551B2B-72D1-4D98-8A9A-7BCB14026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43100"/>
            <a:ext cx="333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8A2097-26A0-4A04-BDB5-80EFD5646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8" name="column-headline-1">
            <a:extLst xmlns:a="http://schemas.openxmlformats.org/drawingml/2006/main">
              <a:ext uri="{FF2B5EF4-FFF2-40B4-BE49-F238E27FC236}">
                <a16:creationId xmlns:a16="http://schemas.microsoft.com/office/drawing/2014/main" id="{41CB3E8D-5F15-4D4A-A037-BA72E33DA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71775"/>
            <a:ext cx="333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Low-impact query</a:t>
            </a:r>
          </a:p>
        </p:txBody>
      </p:sp>
      <p:sp>
        <p:nvSpPr>
          <p:cNvPr id="9" name="column-body-1">
            <a:extLst xmlns:a="http://schemas.openxmlformats.org/drawingml/2006/main">
              <a:ext uri="{FF2B5EF4-FFF2-40B4-BE49-F238E27FC236}">
                <a16:creationId xmlns:a16="http://schemas.microsoft.com/office/drawing/2014/main" id="{BFC7E8F0-C6D7-4554-966C-31AC25A80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38550"/>
            <a:ext cx="3333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"When does the branch open?"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A wrong answer wastes a few minutes. The user can recover.</a:t>
            </a:r>
          </a:p>
        </p:txBody>
      </p:sp>
      <p:sp>
        <p:nvSpPr>
          <p:cNvPr id="10" name="column-index-2">
            <a:extLst xmlns:a="http://schemas.openxmlformats.org/drawingml/2006/main">
              <a:ext uri="{FF2B5EF4-FFF2-40B4-BE49-F238E27FC236}">
                <a16:creationId xmlns:a16="http://schemas.microsoft.com/office/drawing/2014/main" id="{89986B71-6C87-44A1-91A8-34EE7B39A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943100"/>
            <a:ext cx="333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E4545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E45454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497FC6-68C8-4C35-A84F-F215DD86D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7175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2" name="column-headline-2">
            <a:extLst xmlns:a="http://schemas.openxmlformats.org/drawingml/2006/main">
              <a:ext uri="{FF2B5EF4-FFF2-40B4-BE49-F238E27FC236}">
                <a16:creationId xmlns:a16="http://schemas.microsoft.com/office/drawing/2014/main" id="{AF6F1A47-8715-4710-B3E8-6FF925823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71775"/>
            <a:ext cx="333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High-impact query</a:t>
            </a:r>
          </a:p>
        </p:txBody>
      </p:sp>
      <p:sp>
        <p:nvSpPr>
          <p:cNvPr id="13" name="column-body-2">
            <a:extLst xmlns:a="http://schemas.openxmlformats.org/drawingml/2006/main">
              <a:ext uri="{FF2B5EF4-FFF2-40B4-BE49-F238E27FC236}">
                <a16:creationId xmlns:a16="http://schemas.microsoft.com/office/drawing/2014/main" id="{D4E8FD2F-7195-4273-84DE-3CC502D97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38550"/>
            <a:ext cx="3333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"Can I close my ₹20 lakh loan without penalty?"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A wrong answer can create loss, mis-selling, and remediation.</a:t>
            </a:r>
          </a:p>
        </p:txBody>
      </p:sp>
      <p:sp>
        <p:nvSpPr>
          <p:cNvPr id="14" name="column-index-3">
            <a:extLst xmlns:a="http://schemas.openxmlformats.org/drawingml/2006/main">
              <a:ext uri="{FF2B5EF4-FFF2-40B4-BE49-F238E27FC236}">
                <a16:creationId xmlns:a16="http://schemas.microsoft.com/office/drawing/2014/main" id="{27905A9E-8B4F-4FFD-847E-D4AD72591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943100"/>
            <a:ext cx="3390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7A4CE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7A4CE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C841C9-D862-4D28-9B85-15773D667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71750"/>
            <a:ext cx="339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6" name="column-headline-3">
            <a:extLst xmlns:a="http://schemas.openxmlformats.org/drawingml/2006/main">
              <a:ext uri="{FF2B5EF4-FFF2-40B4-BE49-F238E27FC236}">
                <a16:creationId xmlns:a16="http://schemas.microsoft.com/office/drawing/2014/main" id="{2EAD91E0-161D-400E-876E-FFE07A0C4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71775"/>
            <a:ext cx="3390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control gap</a:t>
            </a:r>
          </a:p>
        </p:txBody>
      </p:sp>
      <p:sp>
        <p:nvSpPr>
          <p:cNvPr id="17" name="column-body-3">
            <a:extLst xmlns:a="http://schemas.openxmlformats.org/drawingml/2006/main">
              <a:ext uri="{FF2B5EF4-FFF2-40B4-BE49-F238E27FC236}">
                <a16:creationId xmlns:a16="http://schemas.microsoft.com/office/drawing/2014/main" id="{DB65882E-5E8A-4CFC-A00D-BE44DCB92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38550"/>
            <a:ext cx="33909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Fluency and model confidence do not prove a claim against current contracts, policies, or customer state.</a:t>
            </a:r>
          </a:p>
        </p:txBody>
      </p:sp>
    </p:spTree>
    <p:extLst>
      <p:ext uri="{BB962C8B-B14F-4D97-AF65-F5344CB8AC3E}">
        <p14:creationId xmlns:p14="http://schemas.microsoft.com/office/powerpoint/2010/main" val="13344925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kicker-3">
            <a:extLst xmlns:a="http://schemas.openxmlformats.org/drawingml/2006/main">
              <a:ext uri="{FF2B5EF4-FFF2-40B4-BE49-F238E27FC236}">
                <a16:creationId xmlns:a16="http://schemas.microsoft.com/office/drawing/2014/main" id="{0C83CB2A-0AC4-4280-B784-AE8756795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THE MECHANISM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5E475A6B-E4CF-46E4-B236-FACA787E1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829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ControlPlane changes generation from guess-first to proof-first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ECDFD7-26C2-479D-BC29-EDC55C378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192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footer-3">
            <a:extLst xmlns:a="http://schemas.openxmlformats.org/drawingml/2006/main">
              <a:ext uri="{FF2B5EF4-FFF2-40B4-BE49-F238E27FC236}">
                <a16:creationId xmlns:a16="http://schemas.microsoft.com/office/drawing/2014/main" id="{CE43468B-BFA4-4B05-9FE3-FA4D90CDC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531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NEWGENLABS · CONTROLPLANE.AI</a:t>
            </a:r>
          </a:p>
        </p:txBody>
      </p:sp>
      <p:sp>
        <p:nvSpPr>
          <p:cNvPr id="5" name="page-3">
            <a:extLst xmlns:a="http://schemas.openxmlformats.org/drawingml/2006/main">
              <a:ext uri="{FF2B5EF4-FFF2-40B4-BE49-F238E27FC236}">
                <a16:creationId xmlns:a16="http://schemas.microsoft.com/office/drawing/2014/main" id="{E9F633CF-1E04-4BAE-91BB-2E19FD4B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F4894A-ACA2-4568-88D9-0E69E56B8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686050"/>
            <a:ext cx="3238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4D82CE-9CA3-4810-BDEE-C40EC78DB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86050"/>
            <a:ext cx="3238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5BB6A9-9B64-4426-B896-F73050B7D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686050"/>
            <a:ext cx="3238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A895E1-2361-4800-B8A2-368DB4BBC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686050"/>
            <a:ext cx="3238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75B031-7713-4C82-BF6B-5963C13A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86050"/>
            <a:ext cx="3238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F62707-D3D9-4962-A17A-011BC0C77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686050"/>
            <a:ext cx="3238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2" name="pipeline-node-1">
            <a:extLst xmlns:a="http://schemas.openxmlformats.org/drawingml/2006/main">
              <a:ext uri="{FF2B5EF4-FFF2-40B4-BE49-F238E27FC236}">
                <a16:creationId xmlns:a16="http://schemas.microsoft.com/office/drawing/2014/main" id="{DE70A0E3-9D9D-4DBC-961F-DAA34368E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12954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Risk</a:t>
            </a:r>
          </a:p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route</a:t>
            </a:r>
          </a:p>
        </p:txBody>
      </p:sp>
      <p:sp>
        <p:nvSpPr>
          <p:cNvPr id="13" name="pipeline-node-2">
            <a:extLst xmlns:a="http://schemas.openxmlformats.org/drawingml/2006/main">
              <a:ext uri="{FF2B5EF4-FFF2-40B4-BE49-F238E27FC236}">
                <a16:creationId xmlns:a16="http://schemas.microsoft.com/office/drawing/2014/main" id="{E6907E52-260C-420F-B480-7A3A9AA0F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190750"/>
            <a:ext cx="12954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Fact</a:t>
            </a:r>
          </a:p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contract</a:t>
            </a:r>
          </a:p>
        </p:txBody>
      </p:sp>
      <p:sp>
        <p:nvSpPr>
          <p:cNvPr id="14" name="pipeline-node-3">
            <a:extLst xmlns:a="http://schemas.openxmlformats.org/drawingml/2006/main">
              <a:ext uri="{FF2B5EF4-FFF2-40B4-BE49-F238E27FC236}">
                <a16:creationId xmlns:a16="http://schemas.microsoft.com/office/drawing/2014/main" id="{9C0A3DD8-F427-4160-ACF1-2DA60E758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190750"/>
            <a:ext cx="12954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Fetch</a:t>
            </a:r>
          </a:p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</a:t>
            </a:r>
          </a:p>
        </p:txBody>
      </p:sp>
      <p:sp>
        <p:nvSpPr>
          <p:cNvPr id="15" name="pipeline-node-4">
            <a:extLst xmlns:a="http://schemas.openxmlformats.org/drawingml/2006/main">
              <a:ext uri="{FF2B5EF4-FFF2-40B4-BE49-F238E27FC236}">
                <a16:creationId xmlns:a16="http://schemas.microsoft.com/office/drawing/2014/main" id="{E6711EA3-BBDA-480C-AE1B-F17A019A1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190750"/>
            <a:ext cx="12954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Atomic</a:t>
            </a:r>
          </a:p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claims</a:t>
            </a:r>
          </a:p>
        </p:txBody>
      </p:sp>
      <p:sp>
        <p:nvSpPr>
          <p:cNvPr id="16" name="pipeline-node-5">
            <a:extLst xmlns:a="http://schemas.openxmlformats.org/drawingml/2006/main">
              <a:ext uri="{FF2B5EF4-FFF2-40B4-BE49-F238E27FC236}">
                <a16:creationId xmlns:a16="http://schemas.microsoft.com/office/drawing/2014/main" id="{EDD472B9-76BE-4327-9196-706592364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90750"/>
            <a:ext cx="12954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Typed</a:t>
            </a:r>
          </a:p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checks</a:t>
            </a:r>
          </a:p>
        </p:txBody>
      </p:sp>
      <p:sp>
        <p:nvSpPr>
          <p:cNvPr id="17" name="pipeline-node-6">
            <a:extLst xmlns:a="http://schemas.openxmlformats.org/drawingml/2006/main">
              <a:ext uri="{FF2B5EF4-FFF2-40B4-BE49-F238E27FC236}">
                <a16:creationId xmlns:a16="http://schemas.microsoft.com/office/drawing/2014/main" id="{3EBEDEA1-17BB-4165-A1D7-EC6701D0D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90750"/>
            <a:ext cx="12954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Decision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gate</a:t>
            </a:r>
          </a:p>
        </p:txBody>
      </p:sp>
      <p:sp>
        <p:nvSpPr>
          <p:cNvPr id="18" name="pipeline-node-7">
            <a:extLst xmlns:a="http://schemas.openxmlformats.org/drawingml/2006/main">
              <a:ext uri="{FF2B5EF4-FFF2-40B4-BE49-F238E27FC236}">
                <a16:creationId xmlns:a16="http://schemas.microsoft.com/office/drawing/2014/main" id="{761885DD-B691-4875-B577-FD2DA5B1F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190750"/>
            <a:ext cx="12954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Receipt +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answer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365E85-1333-4D53-B8F8-EE3376B14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3333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0" name="pipeline-summary-1-headline">
            <a:extLst xmlns:a="http://schemas.openxmlformats.org/drawingml/2006/main">
              <a:ext uri="{FF2B5EF4-FFF2-40B4-BE49-F238E27FC236}">
                <a16:creationId xmlns:a16="http://schemas.microsoft.com/office/drawing/2014/main" id="{46A92988-2F0A-42AC-8750-B528C65D9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053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Deterministic first</a:t>
            </a:r>
          </a:p>
        </p:txBody>
      </p:sp>
      <p:sp>
        <p:nvSpPr>
          <p:cNvPr id="21" name="pipeline-summary-1-body">
            <a:extLst xmlns:a="http://schemas.openxmlformats.org/drawingml/2006/main">
              <a:ext uri="{FF2B5EF4-FFF2-40B4-BE49-F238E27FC236}">
                <a16:creationId xmlns:a16="http://schemas.microsoft.com/office/drawing/2014/main" id="{F065E240-6AF1-4ABE-B795-90A57E424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81550"/>
            <a:ext cx="333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Database, calculator, and policy checks resolve most claims locally.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ACB60B-DD79-422B-B9A9-F41153512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095750"/>
            <a:ext cx="3333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9B28"/>
          </a:solidFill>
          <a:ln xmlns:a="http://schemas.openxmlformats.org/drawingml/2006/main" w="0">
            <a:solidFill>
              <a:srgbClr val="E09B28"/>
            </a:solidFill>
            <a:prstDash val="solid"/>
          </a:ln>
        </p:spPr>
      </p:sp>
      <p:sp>
        <p:nvSpPr>
          <p:cNvPr id="23" name="pipeline-summary-2-headline">
            <a:extLst xmlns:a="http://schemas.openxmlformats.org/drawingml/2006/main">
              <a:ext uri="{FF2B5EF4-FFF2-40B4-BE49-F238E27FC236}">
                <a16:creationId xmlns:a16="http://schemas.microsoft.com/office/drawing/2014/main" id="{24399269-FA7A-4520-A641-9517FCD7D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3053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Fail closed</a:t>
            </a:r>
          </a:p>
        </p:txBody>
      </p:sp>
      <p:sp>
        <p:nvSpPr>
          <p:cNvPr id="24" name="pipeline-summary-2-body">
            <a:extLst xmlns:a="http://schemas.openxmlformats.org/drawingml/2006/main">
              <a:ext uri="{FF2B5EF4-FFF2-40B4-BE49-F238E27FC236}">
                <a16:creationId xmlns:a16="http://schemas.microsoft.com/office/drawing/2014/main" id="{2DD368BE-B8E9-48B5-8539-DE847932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781550"/>
            <a:ext cx="333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Missing, stale, or conflicting evidence cannot become a confident claim.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7E16B0-56CA-4AFE-B182-86C7EB5C5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390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4CE0"/>
          </a:solidFill>
          <a:ln xmlns:a="http://schemas.openxmlformats.org/drawingml/2006/main" w="0">
            <a:solidFill>
              <a:srgbClr val="7A4CE0"/>
            </a:solidFill>
            <a:prstDash val="solid"/>
          </a:ln>
        </p:spPr>
      </p:sp>
      <p:sp>
        <p:nvSpPr>
          <p:cNvPr id="26" name="pipeline-summary-3-headline">
            <a:extLst xmlns:a="http://schemas.openxmlformats.org/drawingml/2006/main">
              <a:ext uri="{FF2B5EF4-FFF2-40B4-BE49-F238E27FC236}">
                <a16:creationId xmlns:a16="http://schemas.microsoft.com/office/drawing/2014/main" id="{F5FC4372-69B8-4DC8-97FD-D488FC3E0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305300"/>
            <a:ext cx="3390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Model agnostic</a:t>
            </a:r>
          </a:p>
        </p:txBody>
      </p:sp>
      <p:sp>
        <p:nvSpPr>
          <p:cNvPr id="27" name="pipeline-summary-3-body">
            <a:extLst xmlns:a="http://schemas.openxmlformats.org/drawingml/2006/main">
              <a:ext uri="{FF2B5EF4-FFF2-40B4-BE49-F238E27FC236}">
                <a16:creationId xmlns:a16="http://schemas.microsoft.com/office/drawing/2014/main" id="{D97E2111-99CA-40E3-AD00-786C9634C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781550"/>
            <a:ext cx="3390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The gate works at the input/output boundary. It needs no access to model internals.</a:t>
            </a:r>
          </a:p>
        </p:txBody>
      </p:sp>
    </p:spTree>
    <p:extLst>
      <p:ext uri="{BB962C8B-B14F-4D97-AF65-F5344CB8AC3E}">
        <p14:creationId xmlns:p14="http://schemas.microsoft.com/office/powerpoint/2010/main" val="12260831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kicker-4">
            <a:extLst xmlns:a="http://schemas.openxmlformats.org/drawingml/2006/main">
              <a:ext uri="{FF2B5EF4-FFF2-40B4-BE49-F238E27FC236}">
                <a16:creationId xmlns:a16="http://schemas.microsoft.com/office/drawing/2014/main" id="{56736CE7-3C52-4FFF-A10A-C969E9F58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FAIL-SAFE PROOF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6A96B8F4-8C6A-4650-8750-4044DACE0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signed contract beats a generic policy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EFA7AD-78E9-45DD-9863-9F24650A7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192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footer-4">
            <a:extLst xmlns:a="http://schemas.openxmlformats.org/drawingml/2006/main">
              <a:ext uri="{FF2B5EF4-FFF2-40B4-BE49-F238E27FC236}">
                <a16:creationId xmlns:a16="http://schemas.microsoft.com/office/drawing/2014/main" id="{EE20F98A-21C7-463D-8938-6309EE208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531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NEWGENLABS · CONTROLPLANE.AI</a:t>
            </a:r>
          </a:p>
        </p:txBody>
      </p:sp>
      <p:sp>
        <p:nvSpPr>
          <p:cNvPr id="5" name="page-4">
            <a:extLst xmlns:a="http://schemas.openxmlformats.org/drawingml/2006/main">
              <a:ext uri="{FF2B5EF4-FFF2-40B4-BE49-F238E27FC236}">
                <a16:creationId xmlns:a16="http://schemas.microsoft.com/office/drawing/2014/main" id="{5BDFD880-8BCB-4830-8A18-18259CA6C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6" name="contract-subtitle">
            <a:extLst xmlns:a="http://schemas.openxmlformats.org/drawingml/2006/main">
              <a:ext uri="{FF2B5EF4-FFF2-40B4-BE49-F238E27FC236}">
                <a16:creationId xmlns:a16="http://schemas.microsoft.com/office/drawing/2014/main" id="{CD12A496-C7A9-41F5-A41A-B5804E954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11391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Regression case: the loan is 8 months old, the signed agreement requires 12 months, and the generic policy says 6.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400050" y="2247900"/>
          <a:ext xmlns:a="http://schemas.openxmlformats.org/drawingml/2006/main" cx="113919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3143250"/>
                <a:gridCol w="3048000"/>
                <a:gridCol w="3390900"/>
              </a:tblGrid>
              <a:tr h="6032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Step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Evidence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Rule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Observed result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Request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LN-2025-01212 at month 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High-impact foreclosure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Full evidence gate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Signed source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CTR-1212 v1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12-month lock-in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Authoritative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Generic source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POL-FEE-2026Q3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6-month default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Fallback only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Hard claim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 months &lt; 12 months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Contract term wins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CONTRADICTED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Decision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Contract citation attached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 fee quote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A0202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BLOCK</a:t>
                      </a:r>
                    </a:p>
                  </a:txBody>
                  <a:tcPr marL="91440" marR="91440" marT="45720" marB="45720">
                    <a:solidFill>
                      <a:srgbClr val="FFE0E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39560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-5">
            <a:extLst xmlns:a="http://schemas.openxmlformats.org/drawingml/2006/main">
              <a:ext uri="{FF2B5EF4-FFF2-40B4-BE49-F238E27FC236}">
                <a16:creationId xmlns:a16="http://schemas.microsoft.com/office/drawing/2014/main" id="{D62627CC-2158-4D08-97A1-3B0B5046F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DECISION LOGIC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51F388E4-DB13-4D81-8993-63858C9E7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Seven outcomes let the control correct, stop, or escalate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66A691-E8F9-4AD8-8BE4-EE1EE00AE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192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footer-5">
            <a:extLst xmlns:a="http://schemas.openxmlformats.org/drawingml/2006/main">
              <a:ext uri="{FF2B5EF4-FFF2-40B4-BE49-F238E27FC236}">
                <a16:creationId xmlns:a16="http://schemas.microsoft.com/office/drawing/2014/main" id="{65475FFA-FFBA-4C5B-B4AD-C8FB61B53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531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NEWGENLABS · CONTROLPLANE.AI</a:t>
            </a:r>
          </a:p>
        </p:txBody>
      </p:sp>
      <p:sp>
        <p:nvSpPr>
          <p:cNvPr id="5" name="page-5">
            <a:extLst xmlns:a="http://schemas.openxmlformats.org/drawingml/2006/main">
              <a:ext uri="{FF2B5EF4-FFF2-40B4-BE49-F238E27FC236}">
                <a16:creationId xmlns:a16="http://schemas.microsoft.com/office/drawing/2014/main" id="{4CA6B38A-B36F-4AB6-A12B-2EE6A9AA6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6" name="column-index-1">
            <a:extLst xmlns:a="http://schemas.openxmlformats.org/drawingml/2006/main">
              <a:ext uri="{FF2B5EF4-FFF2-40B4-BE49-F238E27FC236}">
                <a16:creationId xmlns:a16="http://schemas.microsoft.com/office/drawing/2014/main" id="{046DF62A-CAF1-44B9-B8D0-A80A03B7C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43100"/>
            <a:ext cx="333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D9D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2D9D5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885D09-98AD-468F-ACC1-3643486F5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8" name="column-headline-1">
            <a:extLst xmlns:a="http://schemas.openxmlformats.org/drawingml/2006/main">
              <a:ext uri="{FF2B5EF4-FFF2-40B4-BE49-F238E27FC236}">
                <a16:creationId xmlns:a16="http://schemas.microsoft.com/office/drawing/2014/main" id="{52396C2C-E68F-499A-ACC6-9E724D44A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71775"/>
            <a:ext cx="333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Send safely</a:t>
            </a:r>
          </a:p>
        </p:txBody>
      </p:sp>
      <p:sp>
        <p:nvSpPr>
          <p:cNvPr id="9" name="column-body-1">
            <a:extLst xmlns:a="http://schemas.openxmlformats.org/drawingml/2006/main">
              <a:ext uri="{FF2B5EF4-FFF2-40B4-BE49-F238E27FC236}">
                <a16:creationId xmlns:a16="http://schemas.microsoft.com/office/drawing/2014/main" id="{79561399-A16D-40FB-BD71-82D50059D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38550"/>
            <a:ext cx="3333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ALLOW</a:t>
            </a:r>
          </a:p>
          <a:p xmlns:a="http://schemas.openxmlformats.org/drawingml/2006/main">
            <a:pPr algn="l">
              <a:defRPr sz="14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Verified claims may be spoken.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EDIT</a:t>
            </a:r>
          </a:p>
          <a:p xmlns:a="http://schemas.openxmlformats.org/drawingml/2006/main">
            <a:pPr algn="l">
              <a:defRPr sz="14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A wrong assumption is corrected before send.</a:t>
            </a:r>
          </a:p>
        </p:txBody>
      </p:sp>
      <p:sp>
        <p:nvSpPr>
          <p:cNvPr id="10" name="column-index-2">
            <a:extLst xmlns:a="http://schemas.openxmlformats.org/drawingml/2006/main">
              <a:ext uri="{FF2B5EF4-FFF2-40B4-BE49-F238E27FC236}">
                <a16:creationId xmlns:a16="http://schemas.microsoft.com/office/drawing/2014/main" id="{AC6E758B-FF83-44C0-9037-BB752DD17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943100"/>
            <a:ext cx="333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D84B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D84B4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4D8897-A7CB-4C9A-8C9D-E3EDA0544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7175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2" name="column-headline-2">
            <a:extLst xmlns:a="http://schemas.openxmlformats.org/drawingml/2006/main">
              <a:ext uri="{FF2B5EF4-FFF2-40B4-BE49-F238E27FC236}">
                <a16:creationId xmlns:a16="http://schemas.microsoft.com/office/drawing/2014/main" id="{A54E8B79-5ABE-4614-A54C-F8E52EFCC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71775"/>
            <a:ext cx="333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Stop the answer</a:t>
            </a:r>
          </a:p>
        </p:txBody>
      </p:sp>
      <p:sp>
        <p:nvSpPr>
          <p:cNvPr id="13" name="column-body-2">
            <a:extLst xmlns:a="http://schemas.openxmlformats.org/drawingml/2006/main">
              <a:ext uri="{FF2B5EF4-FFF2-40B4-BE49-F238E27FC236}">
                <a16:creationId xmlns:a16="http://schemas.microsoft.com/office/drawing/2014/main" id="{F2E41DAB-3AE3-4C71-BDDB-650B95C80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38550"/>
            <a:ext cx="3333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BLOCK</a:t>
            </a:r>
          </a:p>
          <a:p xmlns:a="http://schemas.openxmlformats.org/drawingml/2006/main">
            <a:pPr algn="l">
              <a:defRPr sz="14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Proof says the action is forbidden.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ABSTAIN</a:t>
            </a:r>
          </a:p>
          <a:p xmlns:a="http://schemas.openxmlformats.org/drawingml/2006/main">
            <a:pPr algn="l">
              <a:defRPr sz="14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Required evidence is missing.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REDACT</a:t>
            </a:r>
          </a:p>
          <a:p xmlns:a="http://schemas.openxmlformats.org/drawingml/2006/main">
            <a:pPr algn="l">
              <a:defRPr sz="14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Private data stays private.</a:t>
            </a:r>
          </a:p>
        </p:txBody>
      </p:sp>
      <p:sp>
        <p:nvSpPr>
          <p:cNvPr id="14" name="column-index-3">
            <a:extLst xmlns:a="http://schemas.openxmlformats.org/drawingml/2006/main">
              <a:ext uri="{FF2B5EF4-FFF2-40B4-BE49-F238E27FC236}">
                <a16:creationId xmlns:a16="http://schemas.microsoft.com/office/drawing/2014/main" id="{15CBC029-D156-453B-BE94-DD98BE00B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943100"/>
            <a:ext cx="3390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7A4CE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7A4CE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DFA409-AFC4-43E9-9277-B32B4C08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71750"/>
            <a:ext cx="339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6" name="column-headline-3">
            <a:extLst xmlns:a="http://schemas.openxmlformats.org/drawingml/2006/main">
              <a:ext uri="{FF2B5EF4-FFF2-40B4-BE49-F238E27FC236}">
                <a16:creationId xmlns:a16="http://schemas.microsoft.com/office/drawing/2014/main" id="{1679AEDE-1E66-40DB-9C51-A2694241B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71775"/>
            <a:ext cx="3390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Pull in a human</a:t>
            </a:r>
          </a:p>
        </p:txBody>
      </p:sp>
      <p:sp>
        <p:nvSpPr>
          <p:cNvPr id="17" name="column-body-3">
            <a:extLst xmlns:a="http://schemas.openxmlformats.org/drawingml/2006/main">
              <a:ext uri="{FF2B5EF4-FFF2-40B4-BE49-F238E27FC236}">
                <a16:creationId xmlns:a16="http://schemas.microsoft.com/office/drawing/2014/main" id="{93D6E0E9-7789-4F52-848A-3EAAE6D9E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38550"/>
            <a:ext cx="33909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ESCALATE</a:t>
            </a:r>
          </a:p>
          <a:p xmlns:a="http://schemas.openxmlformats.org/drawingml/2006/main">
            <a:pPr algn="l">
              <a:defRPr sz="14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Sources conflict or are stale.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HUMAN_CONFIRM</a:t>
            </a:r>
          </a:p>
          <a:p xmlns:a="http://schemas.openxmlformats.org/drawingml/2006/main">
            <a:pPr algn="l">
              <a:defRPr sz="14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An irreversible action needs dual control.</a:t>
            </a:r>
          </a:p>
        </p:txBody>
      </p:sp>
    </p:spTree>
    <p:extLst>
      <p:ext uri="{BB962C8B-B14F-4D97-AF65-F5344CB8AC3E}">
        <p14:creationId xmlns:p14="http://schemas.microsoft.com/office/powerpoint/2010/main" val="14201837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-6">
            <a:extLst xmlns:a="http://schemas.openxmlformats.org/drawingml/2006/main">
              <a:ext uri="{FF2B5EF4-FFF2-40B4-BE49-F238E27FC236}">
                <a16:creationId xmlns:a16="http://schemas.microsoft.com/office/drawing/2014/main" id="{E7DA27EE-FE6E-49FA-9F1F-AF8540FC0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ENTERPRISE CONTROL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E8BD5511-0572-43CC-BDA8-7987799FC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Governance is configuration backed by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36783C-6758-4AA9-A324-A0BA2ED55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192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footer-6">
            <a:extLst xmlns:a="http://schemas.openxmlformats.org/drawingml/2006/main">
              <a:ext uri="{FF2B5EF4-FFF2-40B4-BE49-F238E27FC236}">
                <a16:creationId xmlns:a16="http://schemas.microsoft.com/office/drawing/2014/main" id="{DC6E0ADD-948B-43D9-B315-8C5C19769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531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NEWGENLABS · CONTROLPLANE.AI</a:t>
            </a:r>
          </a:p>
        </p:txBody>
      </p:sp>
      <p:sp>
        <p:nvSpPr>
          <p:cNvPr id="5" name="page-6">
            <a:extLst xmlns:a="http://schemas.openxmlformats.org/drawingml/2006/main">
              <a:ext uri="{FF2B5EF4-FFF2-40B4-BE49-F238E27FC236}">
                <a16:creationId xmlns:a16="http://schemas.microsoft.com/office/drawing/2014/main" id="{9215AE5C-F7F6-42AC-BE34-33B59910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6" name="column-index-1">
            <a:extLst xmlns:a="http://schemas.openxmlformats.org/drawingml/2006/main">
              <a:ext uri="{FF2B5EF4-FFF2-40B4-BE49-F238E27FC236}">
                <a16:creationId xmlns:a16="http://schemas.microsoft.com/office/drawing/2014/main" id="{AA03F772-86C9-4DE7-AE85-8D79B588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43100"/>
            <a:ext cx="333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73FEE5-C1F8-425C-B1C2-4B955000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8" name="column-headline-1">
            <a:extLst xmlns:a="http://schemas.openxmlformats.org/drawingml/2006/main">
              <a:ext uri="{FF2B5EF4-FFF2-40B4-BE49-F238E27FC236}">
                <a16:creationId xmlns:a16="http://schemas.microsoft.com/office/drawing/2014/main" id="{C1CC79F8-4DF9-457C-88EB-CDFB7EAED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71775"/>
            <a:ext cx="333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Risk appetite by use case</a:t>
            </a:r>
          </a:p>
        </p:txBody>
      </p:sp>
      <p:sp>
        <p:nvSpPr>
          <p:cNvPr id="9" name="column-body-1">
            <a:extLst xmlns:a="http://schemas.openxmlformats.org/drawingml/2006/main">
              <a:ext uri="{FF2B5EF4-FFF2-40B4-BE49-F238E27FC236}">
                <a16:creationId xmlns:a16="http://schemas.microsoft.com/office/drawing/2014/main" id="{EF053F0C-7E4F-4DCA-A638-8EC0153C5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38550"/>
            <a:ext cx="3333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Customer chatbot</a:t>
            </a:r>
          </a:p>
          <a:p xmlns:a="http://schemas.openxmlformats.org/drawingml/2006/main">
            <a:pPr algn="l">
              <a:defRPr sz="14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800 ms · 0.35 strictness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Internal assistant</a:t>
            </a:r>
          </a:p>
          <a:p xmlns:a="http://schemas.openxmlformats.org/drawingml/2006/main">
            <a:pPr algn="l">
              <a:defRPr sz="14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2,000 ms · 0.60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Decision desk</a:t>
            </a:r>
          </a:p>
          <a:p xmlns:a="http://schemas.openxmlformats.org/drawingml/2006/main">
            <a:pPr algn="l">
              <a:defRPr sz="14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5,000 ms · 0.85</a:t>
            </a:r>
          </a:p>
        </p:txBody>
      </p:sp>
      <p:sp>
        <p:nvSpPr>
          <p:cNvPr id="10" name="column-index-2">
            <a:extLst xmlns:a="http://schemas.openxmlformats.org/drawingml/2006/main">
              <a:ext uri="{FF2B5EF4-FFF2-40B4-BE49-F238E27FC236}">
                <a16:creationId xmlns:a16="http://schemas.microsoft.com/office/drawing/2014/main" id="{60C03605-8DCC-4B29-BDB7-1503607CD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943100"/>
            <a:ext cx="333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7A4CE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7A4CE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33C901-0690-45C7-9452-6CA5329F7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7175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2" name="column-headline-2">
            <a:extLst xmlns:a="http://schemas.openxmlformats.org/drawingml/2006/main">
              <a:ext uri="{FF2B5EF4-FFF2-40B4-BE49-F238E27FC236}">
                <a16:creationId xmlns:a16="http://schemas.microsoft.com/office/drawing/2014/main" id="{3F4CDDE6-3387-4AE2-9388-F01D47635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71775"/>
            <a:ext cx="333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Policy and conversation</a:t>
            </a:r>
          </a:p>
        </p:txBody>
      </p:sp>
      <p:sp>
        <p:nvSpPr>
          <p:cNvPr id="13" name="column-body-2">
            <a:extLst xmlns:a="http://schemas.openxmlformats.org/drawingml/2006/main">
              <a:ext uri="{FF2B5EF4-FFF2-40B4-BE49-F238E27FC236}">
                <a16:creationId xmlns:a16="http://schemas.microsoft.com/office/drawing/2014/main" id="{5D6C740C-B359-4ADB-8D8B-6D36A45C2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38550"/>
            <a:ext cx="3333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Versioned YAML fact contracts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India, EU, and US overlays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Live multi-turn risk context and loan-ID carry-forward</a:t>
            </a:r>
          </a:p>
        </p:txBody>
      </p:sp>
      <p:sp>
        <p:nvSpPr>
          <p:cNvPr id="14" name="column-index-3">
            <a:extLst xmlns:a="http://schemas.openxmlformats.org/drawingml/2006/main">
              <a:ext uri="{FF2B5EF4-FFF2-40B4-BE49-F238E27FC236}">
                <a16:creationId xmlns:a16="http://schemas.microsoft.com/office/drawing/2014/main" id="{AF540C8B-B3D7-4E0E-AA34-3ED814E7C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943100"/>
            <a:ext cx="3390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D9D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2D9D5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2F609E-72EB-43C2-817F-1FF04851D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71750"/>
            <a:ext cx="339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6" name="column-headline-3">
            <a:extLst xmlns:a="http://schemas.openxmlformats.org/drawingml/2006/main">
              <a:ext uri="{FF2B5EF4-FFF2-40B4-BE49-F238E27FC236}">
                <a16:creationId xmlns:a16="http://schemas.microsoft.com/office/drawing/2014/main" id="{71CA5D37-D92B-4913-A127-15E5158B7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71775"/>
            <a:ext cx="3390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Audit and learning</a:t>
            </a:r>
          </a:p>
        </p:txBody>
      </p:sp>
      <p:sp>
        <p:nvSpPr>
          <p:cNvPr id="17" name="column-body-3">
            <a:extLst xmlns:a="http://schemas.openxmlformats.org/drawingml/2006/main">
              <a:ext uri="{FF2B5EF4-FFF2-40B4-BE49-F238E27FC236}">
                <a16:creationId xmlns:a16="http://schemas.microsoft.com/office/drawing/2014/main" id="{5D3ED6EB-4717-4952-BED7-8BDBCE9FD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38550"/>
            <a:ext cx="33909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Full SHA-256 receipt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EU plaintext minimisation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Persistent ±0.02 calibration per intent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p50 and p95 latency</a:t>
            </a:r>
          </a:p>
        </p:txBody>
      </p:sp>
    </p:spTree>
    <p:extLst>
      <p:ext uri="{BB962C8B-B14F-4D97-AF65-F5344CB8AC3E}">
        <p14:creationId xmlns:p14="http://schemas.microsoft.com/office/powerpoint/2010/main" val="15571499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-7">
            <a:extLst xmlns:a="http://schemas.openxmlformats.org/drawingml/2006/main">
              <a:ext uri="{FF2B5EF4-FFF2-40B4-BE49-F238E27FC236}">
                <a16:creationId xmlns:a16="http://schemas.microsoft.com/office/drawing/2014/main" id="{26FF20BC-EC6D-49F1-8CDE-988724AD1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VALIDATION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0C44A427-B221-4C6E-B0E8-E53DAD2DA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prototype is runnable, tested, and honest about model use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950949-9495-4A18-A97E-70959C2C0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192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footer-7">
            <a:extLst xmlns:a="http://schemas.openxmlformats.org/drawingml/2006/main">
              <a:ext uri="{FF2B5EF4-FFF2-40B4-BE49-F238E27FC236}">
                <a16:creationId xmlns:a16="http://schemas.microsoft.com/office/drawing/2014/main" id="{D84D8859-3897-49F1-9380-19F0D8AA3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531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NEWGENLABS · CONTROLPLANE.AI</a:t>
            </a:r>
          </a:p>
        </p:txBody>
      </p:sp>
      <p:sp>
        <p:nvSpPr>
          <p:cNvPr id="5" name="page-7">
            <a:extLst xmlns:a="http://schemas.openxmlformats.org/drawingml/2006/main">
              <a:ext uri="{FF2B5EF4-FFF2-40B4-BE49-F238E27FC236}">
                <a16:creationId xmlns:a16="http://schemas.microsoft.com/office/drawing/2014/main" id="{A252432A-0B8B-482A-8263-5529BAFCE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6" name="proof-subtitle">
            <a:extLst xmlns:a="http://schemas.openxmlformats.org/drawingml/2006/main">
              <a:ext uri="{FF2B5EF4-FFF2-40B4-BE49-F238E27FC236}">
                <a16:creationId xmlns:a16="http://schemas.microsoft.com/office/drawing/2014/main" id="{663E03CA-EF0A-46B8-9876-A4405F6C3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11391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Every number below comes from the submitted repository and the latest local run.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2D853E-C647-434F-AE06-FD4B90943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57450"/>
            <a:ext cx="35718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8" name="proof-stat-0">
            <a:extLst xmlns:a="http://schemas.openxmlformats.org/drawingml/2006/main">
              <a:ext uri="{FF2B5EF4-FFF2-40B4-BE49-F238E27FC236}">
                <a16:creationId xmlns:a16="http://schemas.microsoft.com/office/drawing/2014/main" id="{256A9EED-BD36-424F-B33A-6F428DD53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38450"/>
            <a:ext cx="30384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42 / 42</a:t>
            </a:r>
          </a:p>
        </p:txBody>
      </p:sp>
      <p:sp>
        <p:nvSpPr>
          <p:cNvPr id="9" name="proof-label-0">
            <a:extLst xmlns:a="http://schemas.openxmlformats.org/drawingml/2006/main">
              <a:ext uri="{FF2B5EF4-FFF2-40B4-BE49-F238E27FC236}">
                <a16:creationId xmlns:a16="http://schemas.microsoft.com/office/drawing/2014/main" id="{7B21CFBF-F162-4D0F-81FD-486224791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30384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YAML compliance, edge-case, and red-team cases passed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1C50EC-D19E-459B-9D1D-C13A92138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457450"/>
            <a:ext cx="35718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1" name="proof-stat-1">
            <a:extLst xmlns:a="http://schemas.openxmlformats.org/drawingml/2006/main">
              <a:ext uri="{FF2B5EF4-FFF2-40B4-BE49-F238E27FC236}">
                <a16:creationId xmlns:a16="http://schemas.microsoft.com/office/drawing/2014/main" id="{9940C98E-45FF-4FF2-9386-CBBAA0408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838450"/>
            <a:ext cx="30384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7 / 7</a:t>
            </a:r>
          </a:p>
        </p:txBody>
      </p:sp>
      <p:sp>
        <p:nvSpPr>
          <p:cNvPr id="12" name="proof-label-1">
            <a:extLst xmlns:a="http://schemas.openxmlformats.org/drawingml/2006/main">
              <a:ext uri="{FF2B5EF4-FFF2-40B4-BE49-F238E27FC236}">
                <a16:creationId xmlns:a16="http://schemas.microsoft.com/office/drawing/2014/main" id="{D99FFD29-2F68-4458-ACC6-322746927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943350"/>
            <a:ext cx="30384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Exact submission-readiness regressions passed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AB690F-EB59-427E-B11F-F6AF18BC4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57450"/>
            <a:ext cx="35718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4" name="proof-stat-2">
            <a:extLst xmlns:a="http://schemas.openxmlformats.org/drawingml/2006/main">
              <a:ext uri="{FF2B5EF4-FFF2-40B4-BE49-F238E27FC236}">
                <a16:creationId xmlns:a16="http://schemas.microsoft.com/office/drawing/2014/main" id="{9AD8564F-FA5F-4BA5-B7F6-8B9DBF3F5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38450"/>
            <a:ext cx="30384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7A4CE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7A4CE0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15" name="proof-label-2">
            <a:extLst xmlns:a="http://schemas.openxmlformats.org/drawingml/2006/main">
              <a:ext uri="{FF2B5EF4-FFF2-40B4-BE49-F238E27FC236}">
                <a16:creationId xmlns:a16="http://schemas.microsoft.com/office/drawing/2014/main" id="{7BDF14F7-0568-43DA-8411-2DE0FAE1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943350"/>
            <a:ext cx="30384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External LLM calls, tokens, and estimated model cost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012E94-CA89-4DCE-B89C-2831B2D43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768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7" name="proof-bottom">
            <a:extLst xmlns:a="http://schemas.openxmlformats.org/drawingml/2006/main">
              <a:ext uri="{FF2B5EF4-FFF2-40B4-BE49-F238E27FC236}">
                <a16:creationId xmlns:a16="http://schemas.microsoft.com/office/drawing/2014/main" id="{3172E98F-286B-483D-9E24-F684F053E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57850"/>
            <a:ext cx="1139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All smoke scenarios pass · Python compileall passes · Streamlit health endpoint returns ok</a:t>
            </a:r>
          </a:p>
        </p:txBody>
      </p:sp>
    </p:spTree>
    <p:extLst>
      <p:ext uri="{BB962C8B-B14F-4D97-AF65-F5344CB8AC3E}">
        <p14:creationId xmlns:p14="http://schemas.microsoft.com/office/powerpoint/2010/main" val="11119860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kicker-8">
            <a:extLst xmlns:a="http://schemas.openxmlformats.org/drawingml/2006/main">
              <a:ext uri="{FF2B5EF4-FFF2-40B4-BE49-F238E27FC236}">
                <a16:creationId xmlns:a16="http://schemas.microsoft.com/office/drawing/2014/main" id="{C87C856E-D699-4CEF-B2AE-938F7D54B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ILLUSTRATIVE BUSINESS CASE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95D6DB0B-B5D3-4332-93E2-449BCF024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2319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value comes from avoided loss, smaller review queues, and faster audits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C4B78E-881C-4DDD-B2E8-DF159BFBB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192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footer-8">
            <a:extLst xmlns:a="http://schemas.openxmlformats.org/drawingml/2006/main">
              <a:ext uri="{FF2B5EF4-FFF2-40B4-BE49-F238E27FC236}">
                <a16:creationId xmlns:a16="http://schemas.microsoft.com/office/drawing/2014/main" id="{679E36DE-F5F3-4018-8FA8-08AB65EAF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531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NEWGENLABS · CONTROLPLANE.AI</a:t>
            </a:r>
          </a:p>
        </p:txBody>
      </p:sp>
      <p:sp>
        <p:nvSpPr>
          <p:cNvPr id="5" name="page-8">
            <a:extLst xmlns:a="http://schemas.openxmlformats.org/drawingml/2006/main">
              <a:ext uri="{FF2B5EF4-FFF2-40B4-BE49-F238E27FC236}">
                <a16:creationId xmlns:a16="http://schemas.microsoft.com/office/drawing/2014/main" id="{4EB21125-FE50-4BB6-8976-36E710918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6" name="business-subtitle">
            <a:extLst xmlns:a="http://schemas.openxmlformats.org/drawingml/2006/main">
              <a:ext uri="{FF2B5EF4-FFF2-40B4-BE49-F238E27FC236}">
                <a16:creationId xmlns:a16="http://schemas.microsoft.com/office/drawing/2014/main" id="{B7B28C5E-99C7-4676-A7CB-161ED52B2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11391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Assumption: one mid-size bank, 30,000 AI interactions per week. These are modelling ranges, not measured client outcomes.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400050" y="2324100"/>
          <a:ext xmlns:a="http://schemas.openxmlformats.org/drawingml/2006/main" cx="11391900" cy="3276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5715000"/>
                <a:gridCol w="3009900"/>
              </a:tblGrid>
              <a:tr h="65532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Lever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Illustrative assumption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Annual impact range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Avoid mis-selling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Prevent 2-3 material events at ₹1-5 crore each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3D8D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₹2-15 crore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Reduce review load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Automate about 9,000 gated items/week at ₹80-150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3D8D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₹4-7 crore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Accelerate audit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2,000 samples/year; 3 hours reduced to 20 minutes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3D8D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₹0.4-0.6 crore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 economics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 external judge in the prototype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3D8D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$0 model spend</a:t>
                      </a:r>
                    </a:p>
                  </a:txBody>
                  <a:tcPr marL="91440" marR="91440" marT="45720" marB="45720"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7624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-9">
            <a:extLst xmlns:a="http://schemas.openxmlformats.org/drawingml/2006/main">
              <a:ext uri="{FF2B5EF4-FFF2-40B4-BE49-F238E27FC236}">
                <a16:creationId xmlns:a16="http://schemas.microsoft.com/office/drawing/2014/main" id="{72A5B197-F731-423B-BDD7-8DF0AF30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ROADMAP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3CBA90BA-0FC0-41F8-A4EA-65372B8F9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37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shadow pilot converts the prototype into calibrated enterprise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9D8E4D-FA13-46A4-8262-C43477B45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1922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footer-9">
            <a:extLst xmlns:a="http://schemas.openxmlformats.org/drawingml/2006/main">
              <a:ext uri="{FF2B5EF4-FFF2-40B4-BE49-F238E27FC236}">
                <a16:creationId xmlns:a16="http://schemas.microsoft.com/office/drawing/2014/main" id="{9BF6C7D5-564C-4C57-BF32-C8307ADC5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5317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NEWGENLABS · CONTROLPLANE.AI</a:t>
            </a:r>
          </a:p>
        </p:txBody>
      </p:sp>
      <p:sp>
        <p:nvSpPr>
          <p:cNvPr id="5" name="page-9">
            <a:extLst xmlns:a="http://schemas.openxmlformats.org/drawingml/2006/main">
              <a:ext uri="{FF2B5EF4-FFF2-40B4-BE49-F238E27FC236}">
                <a16:creationId xmlns:a16="http://schemas.microsoft.com/office/drawing/2014/main" id="{1D373677-BD9F-4508-B652-F54704238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6" name="column-index-1">
            <a:extLst xmlns:a="http://schemas.openxmlformats.org/drawingml/2006/main">
              <a:ext uri="{FF2B5EF4-FFF2-40B4-BE49-F238E27FC236}">
                <a16:creationId xmlns:a16="http://schemas.microsoft.com/office/drawing/2014/main" id="{1E5659FC-A4E8-42B8-8989-641E8CB80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43100"/>
            <a:ext cx="333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D9D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2D9D5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B4C3DC-A674-4977-9E12-3A0F001B2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8" name="column-headline-1">
            <a:extLst xmlns:a="http://schemas.openxmlformats.org/drawingml/2006/main">
              <a:ext uri="{FF2B5EF4-FFF2-40B4-BE49-F238E27FC236}">
                <a16:creationId xmlns:a16="http://schemas.microsoft.com/office/drawing/2014/main" id="{B7EFF771-E5B0-418F-B6E6-6C289E63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71775"/>
            <a:ext cx="333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Now · prototype complete</a:t>
            </a:r>
          </a:p>
        </p:txBody>
      </p:sp>
      <p:sp>
        <p:nvSpPr>
          <p:cNvPr id="9" name="column-body-1">
            <a:extLst xmlns:a="http://schemas.openxmlformats.org/drawingml/2006/main">
              <a:ext uri="{FF2B5EF4-FFF2-40B4-BE49-F238E27FC236}">
                <a16:creationId xmlns:a16="http://schemas.microsoft.com/office/drawing/2014/main" id="{FD902F01-9874-44CD-AD0D-D69BBB03E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38550"/>
            <a:ext cx="3333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11 demo scenarios</a:t>
            </a:r>
          </a:p>
          <a:p xmlns:a="http://schemas.openxmlformats.org/drawingml/2006/main">
            <a:pPr algn="l">
              <a:defRPr sz="14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7 decision outcomes</a:t>
            </a:r>
          </a:p>
          <a:p xmlns:a="http://schemas.openxmlformats.org/drawingml/2006/main">
            <a:pPr algn="l">
              <a:defRPr sz="14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3 profiles and 3 jurisdictions</a:t>
            </a:r>
          </a:p>
          <a:p xmlns:a="http://schemas.openxmlformats.org/drawingml/2006/main">
            <a:pPr algn="l">
              <a:defRPr sz="14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Full receipt and feedback loop</a:t>
            </a:r>
          </a:p>
          <a:p xmlns:a="http://schemas.openxmlformats.org/drawingml/2006/main">
            <a:pPr algn="l">
              <a:defRPr sz="14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All submitted tests green</a:t>
            </a:r>
          </a:p>
        </p:txBody>
      </p:sp>
      <p:sp>
        <p:nvSpPr>
          <p:cNvPr id="10" name="column-index-2">
            <a:extLst xmlns:a="http://schemas.openxmlformats.org/drawingml/2006/main">
              <a:ext uri="{FF2B5EF4-FFF2-40B4-BE49-F238E27FC236}">
                <a16:creationId xmlns:a16="http://schemas.microsoft.com/office/drawing/2014/main" id="{50675DB8-5D46-419C-B046-EF3048093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943100"/>
            <a:ext cx="333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180531-F94D-44E1-A086-BD20CCF17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7175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2" name="column-headline-2">
            <a:extLst xmlns:a="http://schemas.openxmlformats.org/drawingml/2006/main">
              <a:ext uri="{FF2B5EF4-FFF2-40B4-BE49-F238E27FC236}">
                <a16:creationId xmlns:a16="http://schemas.microsoft.com/office/drawing/2014/main" id="{4A73D53A-1C7A-40A0-8B24-C3211C31D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71775"/>
            <a:ext cx="333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8-12 weeks · pilot</a:t>
            </a:r>
          </a:p>
        </p:txBody>
      </p:sp>
      <p:sp>
        <p:nvSpPr>
          <p:cNvPr id="13" name="column-body-2">
            <a:extLst xmlns:a="http://schemas.openxmlformats.org/drawingml/2006/main">
              <a:ext uri="{FF2B5EF4-FFF2-40B4-BE49-F238E27FC236}">
                <a16:creationId xmlns:a16="http://schemas.microsoft.com/office/drawing/2014/main" id="{D471AF2C-2F9F-4636-AC83-175A4536C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38550"/>
            <a:ext cx="3333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Connect lending, policy, and CRM</a:t>
            </a:r>
          </a:p>
          <a:p xmlns:a="http://schemas.openxmlformats.org/drawingml/2006/main">
            <a:pPr algn="l">
              <a:defRPr sz="14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Run beside production without enforcement</a:t>
            </a:r>
          </a:p>
          <a:p xmlns:a="http://schemas.openxmlformats.org/drawingml/2006/main">
            <a:pPr algn="l">
              <a:defRPr sz="14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Compare against reviewer judgment</a:t>
            </a:r>
          </a:p>
          <a:p xmlns:a="http://schemas.openxmlformats.org/drawingml/2006/main">
            <a:pPr algn="l">
              <a:defRPr sz="14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Calibrate FP/FN and obtain risk sign-off</a:t>
            </a:r>
          </a:p>
        </p:txBody>
      </p:sp>
      <p:sp>
        <p:nvSpPr>
          <p:cNvPr id="14" name="column-index-3">
            <a:extLst xmlns:a="http://schemas.openxmlformats.org/drawingml/2006/main">
              <a:ext uri="{FF2B5EF4-FFF2-40B4-BE49-F238E27FC236}">
                <a16:creationId xmlns:a16="http://schemas.microsoft.com/office/drawing/2014/main" id="{E384A7CA-49CB-4834-BD0D-7AA071A57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943100"/>
            <a:ext cx="3390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7A4CE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7A4CE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AEC534-9047-4604-A583-311D04DDC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71750"/>
            <a:ext cx="339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6" name="column-headline-3">
            <a:extLst xmlns:a="http://schemas.openxmlformats.org/drawingml/2006/main">
              <a:ext uri="{FF2B5EF4-FFF2-40B4-BE49-F238E27FC236}">
                <a16:creationId xmlns:a16="http://schemas.microsoft.com/office/drawing/2014/main" id="{35BC38E0-992D-4102-9B05-48A8DE644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71775"/>
            <a:ext cx="3390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Months 4-12 · scale</a:t>
            </a:r>
          </a:p>
        </p:txBody>
      </p:sp>
      <p:sp>
        <p:nvSpPr>
          <p:cNvPr id="17" name="column-body-3">
            <a:extLst xmlns:a="http://schemas.openxmlformats.org/drawingml/2006/main">
              <a:ext uri="{FF2B5EF4-FFF2-40B4-BE49-F238E27FC236}">
                <a16:creationId xmlns:a16="http://schemas.microsoft.com/office/drawing/2014/main" id="{983E0834-E255-41A8-B1A0-3B937B07A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38550"/>
            <a:ext cx="33909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Add cards, insurance, and wealth contract libraries</a:t>
            </a:r>
          </a:p>
          <a:p xmlns:a="http://schemas.openxmlformats.org/drawingml/2006/main">
            <a:pPr algn="l">
              <a:defRPr sz="14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Monitor drift and source freshness</a:t>
            </a:r>
          </a:p>
          <a:p xmlns:a="http://schemas.openxmlformats.org/drawingml/2006/main">
            <a:pPr algn="l">
              <a:defRPr sz="14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Deploy governed jurisdiction packs across regions</a:t>
            </a:r>
          </a:p>
        </p:txBody>
      </p:sp>
    </p:spTree>
    <p:extLst>
      <p:ext uri="{BB962C8B-B14F-4D97-AF65-F5344CB8AC3E}">
        <p14:creationId xmlns:p14="http://schemas.microsoft.com/office/powerpoint/2010/main" val="184864289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967107B5-D570-4F5A-8C94-933919D03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RECOMMENDATION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2CAF7785-0C80-42FE-A120-869EA6EE3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990600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Approve an 8-12 week</a:t>
            </a:r>
          </a:p>
          <a:p xmlns:a="http://schemas.openxmlformats.org/drawingml/2006/main">
            <a:pPr algn="l">
              <a:defRPr sz="5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shadow pilot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86F3DE-6E7E-42C2-A242-4FC3F05D6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48125"/>
            <a:ext cx="2095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" name="close-body">
            <a:extLst xmlns:a="http://schemas.openxmlformats.org/drawingml/2006/main">
              <a:ext uri="{FF2B5EF4-FFF2-40B4-BE49-F238E27FC236}">
                <a16:creationId xmlns:a16="http://schemas.microsoft.com/office/drawing/2014/main" id="{2A20C193-ECCC-43B8-8F48-7E3AE9E57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57700"/>
            <a:ext cx="9810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The mechanism works, fails safely, and produces measurable evidence.</a:t>
            </a:r>
          </a:p>
          <a:p xmlns:a="http://schemas.openxmlformats.org/drawingml/2006/main">
            <a:pPr algn="l">
              <a:defRPr sz="19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C6470"/>
                </a:solidFill>
                <a:latin typeface="Helvetica Neue"/>
                <a:ea typeface="Helvetica Neue"/>
                <a:cs typeface="Helvetica Neue"/>
              </a:rPr>
              <a:t>Pilot inputs: three system connectors, one policy owner, and a reviewer cohort.</a:t>
            </a:r>
          </a:p>
        </p:txBody>
      </p:sp>
      <p:sp>
        <p:nvSpPr>
          <p:cNvPr id="5" name="close-principle">
            <a:extLst xmlns:a="http://schemas.openxmlformats.org/drawingml/2006/main">
              <a:ext uri="{FF2B5EF4-FFF2-40B4-BE49-F238E27FC236}">
                <a16:creationId xmlns:a16="http://schemas.microsoft.com/office/drawing/2014/main" id="{B83E00A2-5734-47D6-A9D7-5A278C31C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2930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 proof, no confident claim.</a:t>
            </a:r>
          </a:p>
        </p:txBody>
      </p:sp>
      <p:sp>
        <p:nvSpPr>
          <p:cNvPr id="6" name="close-mark">
            <a:extLst xmlns:a="http://schemas.openxmlformats.org/drawingml/2006/main">
              <a:ext uri="{FF2B5EF4-FFF2-40B4-BE49-F238E27FC236}">
                <a16:creationId xmlns:a16="http://schemas.microsoft.com/office/drawing/2014/main" id="{7DBB9B6E-0428-4E8F-86B1-26499F6E7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5476875"/>
            <a:ext cx="647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3889"/>
          </a:bodyPr>
          <a:lstStyle xmlns:a="http://schemas.openxmlformats.org/drawingml/2006/main"/>
          <a:p xmlns:a="http://schemas.openxmlformats.org/drawingml/2006/main">
            <a:pPr algn="r">
              <a:defRPr sz="4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051975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2026-08-29T04:20:13.5090000Z</dcterms:created>
  <dcterms:modified xsi:type="dcterms:W3CDTF">2026-08-29T04:20:13.5090000Z</dcterms:modified>
</coreProperties>
</file>